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 (WHAT TO SAY):</a:t>
            </a:r>
          </a:p>
          <a:p/>
          <a:p>
            <a:r>
              <a:t>"Good morning/afternoon. Today I am presenting Disinfo Shield AI 2026.</a:t>
            </a:r>
          </a:p>
          <a:p>
            <a:r>
              <a:t>In modern information warfare, fake news does not stay confined to a single platform—it mutates rapidly from dark social channels like WhatsApp and Telegram to viral short video feeds and coordinated bot swarms on X.</a:t>
            </a:r>
          </a:p>
          <a:p/>
          <a:p>
            <a:r>
              <a:t>Disinfo Shield AI is an end-to-end OSINT intelligence suite that detects disinformation signals using forensic NLP, maps coordinated campaigns across 8 digital platforms, and links directly to official fact-checking authorities (such as PIB Fact Check and the Ministry of Defence) to verify national and civic security narratives."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"The core problem we are solving is not just simple 'fake news'—it is Coordinated Inauthentic Behavior (CIB).</a:t>
            </a:r>
          </a:p>
          <a:p/>
          <a:p>
            <a:r>
              <a:t>Adversaries exploit platform seams: they seed a doctored claim on an anonymous forum, broadcast it via Telegram, diffuse it through encrypted WhatsApp family groups, and use bot swarms on X to force algorithmic trending.</a:t>
            </a:r>
          </a:p>
          <a:p/>
          <a:p>
            <a:r>
              <a:t>By the time a traditional fact-checker writes an article 24 hours later, the market panic or civic disturbance has already occurred. Analysts lack a unified system that connects the dots across these disparate channels in real time."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"Our system architecture follows a clean, decoupled 3-stage pipeline: Ingestion, Forensic Analysis, and Response.</a:t>
            </a:r>
          </a:p>
          <a:p/>
          <a:p>
            <a:r>
              <a:t>1. Ingestion: We normalize heterogeneous feeds from WhatsApp, Telegram, X, and live RSS into a unified post schema with zero data loss.</a:t>
            </a:r>
          </a:p>
          <a:p>
            <a:r>
              <a:t>2. Forensic NLP Layer: Posts are evaluated across our 5-axis forensic engine in under 5 milliseconds.</a:t>
            </a:r>
          </a:p>
          <a:p>
            <a:r>
              <a:t>3. Response Layer: Synchronized posts are clustered into campaigns, rendered on our Three.js 3D Threat Mesh, and cross-referenced with official PIB and Defence fact-checking records."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 (KEY INTERVIEW DEFENSE):</a:t>
            </a:r>
          </a:p>
          <a:p/>
          <a:p>
            <a:r>
              <a:t>"When presenting intelligence tools, interviewers frequently ask: 'Where is this data coming from? Can we trust it?'</a:t>
            </a:r>
          </a:p>
          <a:p/>
          <a:p>
            <a:r>
              <a:t>We answer this through our Tri-Layer Data Architecture:</a:t>
            </a:r>
          </a:p>
          <a:p>
            <a:r>
              <a:t>1. Real-time Live News parsed directly from accredited RSS endpoints (BBC, Google News, PIB).</a:t>
            </a:r>
          </a:p>
          <a:p>
            <a:r>
              <a:t>2. Authentic Fact-Check Integrations: Every flagged defence narrative maps to an official debunk record from PIB Fact Check or the Ministry of Defence, complete with a direct verification URL.</a:t>
            </a:r>
          </a:p>
          <a:p>
            <a:r>
              <a:t>3. Deterministic Forensic Indicators: Rather than relying on an LLM that might hallucinate a justification, our system generates transparent, auditable indicators (e.g. [PANIC_SYNTAX], [ATTRIBUTION_DEFICIT])."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"Our NLP classifier inspects incoming content across 5 forensic dimensions. Unlike black-box models, it evaluates exact indicators: urgency triggers, attribution deficit, emotional manipulation, astroturfing markers, and dark social structures.</a:t>
            </a:r>
          </a:p>
          <a:p/>
          <a:p>
            <a:r>
              <a:t>Notice the live contrast in our demo: when fed a fraudulent 'SBI account freeze' alert, the engine triggers all 4 diagnostic red flags and scores 98.4% risk. When fed an accredited news dispatch, it validates the journalistic cadence and drops risk to 10%.</a:t>
            </a:r>
          </a:p>
          <a:p/>
          <a:p>
            <a:r>
              <a:t>Crucially, our classifier API signature matches Hugging Face transformers, allowing a fine-tuned RoBERTa model to drop in seamlessly with just 2 lines of code."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"A single fake post is noise; 500 accounts posting the exact same narrative within a 45-second window is a coordinated operation.</a:t>
            </a:r>
          </a:p>
          <a:p/>
          <a:p>
            <a:r>
              <a:t>Our campaign clustering module groups isolated posts across platforms into unified threat operations using semantic entity markers and temporal synchronization.</a:t>
            </a:r>
          </a:p>
          <a:p/>
          <a:p>
            <a:r>
              <a:t>On our vis.js interactive network graph, analysts can visually isolate the entire chain of transmission: tracing from the adversary seed node, through botnet amplifiers, directly to the high-exposure broadcast channels."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"To give intelligence analysts true spatial awareness, we engineered a high-performance 3D WebGL Threat Mesh using Three.js.</a:t>
            </a:r>
          </a:p>
          <a:p/>
          <a:p>
            <a:r>
              <a:t>The globe maps international influence routing arcs and features 12 dedicated Indian Strategic Defence Sectors—including Northern LAC, Western and Eastern Naval Commands, and ISRO.</a:t>
            </a:r>
          </a:p>
          <a:p/>
          <a:p>
            <a:r>
              <a:t>When an analyst selects a sector, the camera smoothly interpolates to the target coordinates, activates a radar sweep, and opens a detailed Node Forensic Dossier showing the targeted asset, botnet origin, and PIB fact-check link."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"How does a malicious rumor travel from a dark web imageboard to your family's WhatsApp group? We modeled this exact lifecycle in our 3D Volumetric Cascade Simulator.</a:t>
            </a:r>
          </a:p>
          <a:p/>
          <a:p>
            <a:r>
              <a:t>The model tracks the narrative across 6 distinct stages: Inception, Broadcast, Dark Social, Visual Virality, Astroturfing, and Discourse/Debunk.</a:t>
            </a:r>
          </a:p>
          <a:p/>
          <a:p>
            <a:r>
              <a:t>Our telemetry HUD calculates real-time metrics: Mean Hop Latency (14.2 seconds), Amplification Factor (97.8%), and the Co-Action Window, enabling analysts to pinpoint the exact stage where intervention is most effective."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"National security requires specialized domain awareness. Disinformation targeting armed forces or naval maneuvers can cause strategic destabilization.</a:t>
            </a:r>
          </a:p>
          <a:p/>
          <a:p>
            <a:r>
              <a:t>Our Defence Intel connector continuously monitors communications across official channels like the Indian Navy portal, ADG PI, and PIB Defence.</a:t>
            </a:r>
          </a:p>
          <a:p/>
          <a:p>
            <a:r>
              <a:t>If a manipulated video claims a naval skirmish in the Arabian Sea or Indian Ocean, the connector pairs the claim immediately with official statements and verified debunk records, shutting down panic before it spreads."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SCRIPT:</a:t>
            </a:r>
          </a:p>
          <a:p/>
          <a:p>
            <a:r>
              <a:t>"From an engineering perspective, we prioritized speed, modularity, and zero-friction deployment.</a:t>
            </a:r>
          </a:p>
          <a:p/>
          <a:p>
            <a:r>
              <a:t>We chose FastAPI for its asynchronous performance and type-safe Pydantic contracts. SQLite in WAL mode delivers microsecond query response on local analyst workstations with zero server administration overhead.</a:t>
            </a:r>
          </a:p>
          <a:p/>
          <a:p>
            <a:r>
              <a:t>On the frontend, we opted for vanilla ES6+ with Three.js and vis.js to achieve 60 FPS hardware acceleration without the overhead of heavy framework bundles.</a:t>
            </a:r>
          </a:p>
          <a:p/>
          <a:p>
            <a:r>
              <a:t>For enterprise production, the architecture seamlessly transitions to PostgreSQL, Redis/Celery queues, and Triton Inference Server."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SCRIPT (DEMO WALKTHROUGH GUIDE):</a:t>
            </a:r>
          </a:p>
          <a:p/>
          <a:p>
            <a:r>
              <a:t>Follow this exact 5-minute flow during your live demonstration:</a:t>
            </a:r>
          </a:p>
          <a:p>
            <a:r>
              <a:t>1. Open http://127.0.0.1:8000/ and highlight the real-time KPI telemetry.</a:t>
            </a:r>
          </a:p>
          <a:p>
            <a:r>
              <a:t>2. Switch to 3D Threat Mesh, click India Focus, select Kochi Base, and click the PIB debunk link to prove live verification.</a:t>
            </a:r>
          </a:p>
          <a:p>
            <a:r>
              <a:t>3. Switch to AI Text Analyzer, run the 'SBI Freeze Alert' sample (98% risk), then run 'Legitimate News' sample (10% risk).</a:t>
            </a:r>
          </a:p>
          <a:p>
            <a:r>
              <a:t>4. Switch to Temporal Cascade and step through Stages 1 through 6 to show narrative mutation.</a:t>
            </a:r>
          </a:p>
          <a:p>
            <a:r>
              <a:t>5. Conclude on Live News &amp; Defence Intel tabs showing live RSS ingestion.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SUMMARY (WHAT TO SAY TO CONCLUDE):</a:t>
            </a:r>
          </a:p>
          <a:p/>
          <a:p>
            <a:r>
              <a:t>"In summary, Disinfo Shield AI bridges the critical gap between raw OSINT data and actionable threat intelligence.</a:t>
            </a:r>
          </a:p>
          <a:p/>
          <a:p>
            <a:r>
              <a:t>It provides defense and civic institutions with the tools to detect, visualize, and neutralize coordinated influence operations before they inflict real-world damage.</a:t>
            </a:r>
          </a:p>
          <a:p/>
          <a:p>
            <a:r>
              <a:t>Thank you very much for your time, and I am now excited to answer your technical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097280"/>
            <a:ext cx="3840480" cy="365760"/>
          </a:xfrm>
          <a:prstGeom prst="roundRect">
            <a:avLst/>
          </a:prstGeom>
          <a:solidFill>
            <a:srgbClr val="0C1E4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⚡ OSINT &amp; CIB FORENSICS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Disinfo Shield AI 2026</a:t>
            </a:r>
          </a:p>
          <a:p>
            <a:pPr>
              <a:spcBef>
                <a:spcPts val="800"/>
              </a:spcBef>
              <a:defRPr sz="1700" b="0">
                <a:solidFill>
                  <a:srgbClr val="06B6D4"/>
                </a:solidFill>
                <a:latin typeface="Segoe UI"/>
              </a:defRPr>
            </a:pPr>
            <a:r>
              <a:t>Multi-Platform Disinformation Forensics, Campaign Clustering &amp; Fact-Checking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200400"/>
            <a:ext cx="3063240" cy="1554480"/>
          </a:xfrm>
          <a:prstGeom prst="roundRect">
            <a:avLst/>
          </a:prstGeom>
          <a:solidFill>
            <a:srgbClr val="16264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2697480" cy="1280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🌐 8-Platform Ingestion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Tracks WhatsApp, Telegram, X, Instagram, TikTok, Reddit, FB &amp; YouTube.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200400"/>
            <a:ext cx="3063240" cy="1554480"/>
          </a:xfrm>
          <a:prstGeom prst="roundRect">
            <a:avLst/>
          </a:prstGeom>
          <a:solidFill>
            <a:srgbClr val="16264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337560"/>
            <a:ext cx="2697480" cy="1280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🧠 Forensic NLP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5-Dimensional heuristic matrix &amp; drop-in Hugging Face model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200400"/>
            <a:ext cx="3063240" cy="1554480"/>
          </a:xfrm>
          <a:prstGeom prst="roundRect">
            <a:avLst/>
          </a:prstGeom>
          <a:solidFill>
            <a:srgbClr val="16264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337560"/>
            <a:ext cx="2697480" cy="12801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🇮🇳 Official Fact-Checks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Direct provenance integration with PIB Fact Check &amp; Ministry of Defence.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0352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🎯 Candidate Presentation &amp; Technical Architecture Walkthrough  |  Built with FastAPI, Three.js &amp; Forensic NLP</a:t>
            </a:r>
          </a:p>
        </p:txBody>
      </p:sp>
      <p:pic>
        <p:nvPicPr>
          <p:cNvPr id="12" name="Picture 11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0972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⚠️  PROBLEM DEFINITION &amp;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Problem: Cross-Platform Disinformation Velocity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17720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⚡ 6x Propagation Velocity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MIT benchmark confirms false narratives diffuse 6 times faster than accredited truth due to engineered emotional outrage and panic triggers.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617720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🔄 Multi-Vector Mutation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A single text tweet on X transforms within minutes into an encrypted WhatsApp voice note, an AI-dubbed TikTok reel, and a Reddit conspiracy thread.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4617720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Segoe UI"/>
              </a:defRPr>
            </a:pPr>
            <a:r>
              <a:t>🔒 Dark Social Blindspot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Over 60% of panic-inducing rumors (e.g. bank runs, utility shutdowns, military skirmishes) incubate in encrypted chats before hitting open media.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02336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251960"/>
            <a:ext cx="4617720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⏱️ The Fact-Checking Lag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Traditional fact-checking articles take 24–48 hours to publish. By that time, the civic panic or market disruption has already caused irreversible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🏗️  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Architecture: Decoupled 3-Stage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2971800" cy="320040"/>
          </a:xfrm>
          <a:prstGeom prst="roundRect">
            <a:avLst/>
          </a:prstGeom>
          <a:solidFill>
            <a:srgbClr val="0F193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STAGE 1: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Multi-Platform Connectors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Normalized schema across 8 platforms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Live XML/RSS news syndication (Google News, BBC, PIB)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Tipline &amp; dark social export parsers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Rate-limited async HTTPX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37560" cy="484632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2971800" cy="320040"/>
          </a:xfrm>
          <a:prstGeom prst="roundRect">
            <a:avLst/>
          </a:prstGeom>
          <a:solidFill>
            <a:srgbClr val="0F193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STAGE 2: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Forensic NLP &amp; Scoring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5-dimensional heuristic extraction matrix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Panic syntax &amp; forward acceleration detection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Attribution deficit &amp; authority validation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Drop-in Hugging Face transformer API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37560" cy="484632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2971800" cy="320040"/>
          </a:xfrm>
          <a:prstGeom prst="roundRect">
            <a:avLst/>
          </a:prstGeom>
          <a:solidFill>
            <a:srgbClr val="0F19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STAGE 3: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Clustering &amp; Response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Coordinated Inauthentic Behavior (CIB) scoring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Three.js 3D WebGL Threat Mesh &amp; Globe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vis.js Force-Directed Campaign Network Graph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Official PIB/MoD Fact-Check Verification Suite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🏛️  CREDIBILITY &amp; PROVENANCE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Trustworthiness &amp; Official Fact-Checking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39319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80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Segoe UI"/>
              </a:defRPr>
            </a:pPr>
            <a:r>
              <a:t>Layer 1: Live Syndication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100% Real-Time RSS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Live XML feeds from Google News, BBC World, PIB, and Reuters.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Live risk scoring computed on incoming breaking headlines.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Continuous auto-refresh cycle without UI blocking.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37560" cy="39319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880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Layer 2: Official Fact-Checks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Government &amp; Defence Desks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Direct integration with PIB Fact Check (factcheck.pib.gov.in).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Indian Army (ADG PI) &amp; Ministry of Defence official archives.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Clickable outbound links for direct analyst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37560" cy="39319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8803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Segoe UI"/>
              </a:defRPr>
            </a:pPr>
            <a:r>
              <a:t>Layer 3: Forensic Templates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SIO &amp; Meta CIB Benchmarks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Modeled on Stanford Internet Observatory &amp; Meta takedowns.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Replicates exact syntactical panic &amp; botnet forwarding patterns.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Zero PII violation; zero illicit material stored.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🛡️ KEY DEFENSE TAKEAWAY FOR INTERVIEWERS: We avoid black-box LLM hallucinations by using explainable, deterministic forensic indicators backed by verified government fact-checking registries and active outbound verification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🧠  CORE NLP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AI NLP Forensic Classifier: 5-Axis Detection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93776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5-Dimensional Forensic Matrix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🚨 Panic &amp; Urgency Triggers: 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'Midnight deadline', 'Immediate freeze', ALL-CAPS alerts.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🎭 Emotional Manipulation: 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Bio-threat hysteria, manufactured outrage, scapegoating.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❓ Attribution Deficit: 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'Unnamed top officials', 'Secret insider' with no press link.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📢 Astroturfing Signatures: 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'Forward to 10 groups', 'Share before media deletes'.</a:t>
            </a:r>
          </a:p>
          <a:p>
            <a:pPr>
              <a:spcBef>
                <a:spcPts val="8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📱 Dark Social Formatting: 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Forwarded audio transcripts, synthetic SMS bait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463040"/>
            <a:ext cx="4736592" cy="2331720"/>
          </a:xfrm>
          <a:prstGeom prst="roundRect">
            <a:avLst/>
          </a:prstGeom>
          <a:solidFill>
            <a:srgbClr val="16264A"/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645920"/>
            <a:ext cx="43708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🔴 Test Case: Banking Phishing SMS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Score: 98.4% Disinformation Risk (CRITICAL)</a:t>
            </a:r>
          </a:p>
          <a:p>
            <a:pPr>
              <a:spcBef>
                <a:spcPts val="600"/>
              </a:spcBef>
              <a:defRPr sz="950">
                <a:solidFill>
                  <a:srgbClr val="F59E0B"/>
                </a:solidFill>
                <a:latin typeface="Consolas"/>
              </a:defRPr>
            </a:pPr>
            <a:r>
              <a:t>Flags: [ATTRIBUTION_DEFICIT], [PANIC_SYNTAX], [PHISHING_HOOK], [FORWARD_ACCELERATION].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4069080"/>
            <a:ext cx="4736592" cy="2331720"/>
          </a:xfrm>
          <a:prstGeom prst="roundRect">
            <a:avLst/>
          </a:prstGeom>
          <a:solidFill>
            <a:srgbClr val="16264A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4251960"/>
            <a:ext cx="437083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🟢 Test Case: Accredited Press Dispatch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Score: 10.0% Risk (VERIFIED LEGITIMATE)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Flags: Neutral journalistic cadence, direct accredited source attribution, zero urgency bait.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🕸️  NETWORK INTELLIGENCE &amp; CIB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Coordinated Campaign Clustering &amp; Graph Forensics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B82F6"/>
                </a:solidFill>
                <a:latin typeface="Segoe UI"/>
              </a:defRPr>
            </a:pPr>
            <a:r>
              <a:t>1. Narrative Clustering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Synthesizing Isolated Posts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Groups disparate messages into unified campaigns (e.g. 'Banking Liquidity FUD', 'Border Skirmish Deepfake').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Extracts common n-gram signatures and entity tokens.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Computes campaign-level virality index and reach.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37560" cy="48463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Segoe UI"/>
              </a:defRPr>
            </a:pPr>
            <a:r>
              <a:t>2. CIB Velocity Scoring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Temporal Synchronization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Detects bot swarms executing coordinated posts within a tight co-action window (&lt;45 seconds).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Identifies forward multipliers across cross-platform relay nodes.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Flags synchronized astroturfing campaigns.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37560" cy="48463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3. Force-Directed Graph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Interactive Network Forensics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Visualizes Seed Nodes (adversary origin), Amplifiers (bot accounts), and Transmission Channels.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Platform color-coded nodes (WhatsApp, X, Telegram, Reddit, TikTok).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Interactive physics simulation powered by vis.js.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🌐  3D SITUATIONAL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3D Geospatial Threat Mesh &amp; Strategic Sector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Three.js WebGL 3D Threat Mesh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Real-time 3D Earth projection with atmospheric glow &amp; particle stars.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Dynamic Bezier cyber arcs visualizing cross-border payload transfer.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Smooth spherical camera interpolation (Slerp) on sector focus.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Global Threat Hubs: New Delhi, Mumbai, London, Singapore, Washington DC &amp; DarkNet Origin Farm.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50815" cy="48463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6936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12 Dedicated India Threat Sectors</a:t>
            </a:r>
          </a:p>
          <a:p>
            <a:pPr>
              <a:spcBef>
                <a:spcPts val="8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🪖 Northern LAC Sector (Army border communication integrity)</a:t>
            </a:r>
          </a:p>
          <a:p>
            <a:pPr>
              <a:spcBef>
                <a:spcPts val="8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🚢 Western Naval Command (Mumbai HQ &amp; offshore assets)</a:t>
            </a:r>
          </a:p>
          <a:p>
            <a:pPr>
              <a:spcBef>
                <a:spcPts val="8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⚓ Kochi Naval Base (INS Venduruthy / Southern Command)</a:t>
            </a:r>
          </a:p>
          <a:p>
            <a:pPr>
              <a:spcBef>
                <a:spcPts val="8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🚀 ISRO Space Centre (Bengaluru satellite telecommand)</a:t>
            </a:r>
          </a:p>
          <a:p>
            <a:pPr>
              <a:spcBef>
                <a:spcPts val="8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🛡️ Eastern Fleet (Vizag naval air arm &amp; surveillance)</a:t>
            </a:r>
          </a:p>
          <a:p>
            <a:pPr>
              <a:spcBef>
                <a:spcPts val="8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🌉 Siliguri Corridor &amp; BRO Arunachal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⏳  PROPAGATION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6-Stage Temporal Cascade &amp; Vector Simulator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228600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STAGE 1: INCEPTION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Dark Web / Anonymous Forum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Adversary seeds synthetic claim, doctored image, or forged document.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37560" cy="228600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STAGE 2: BROADCAST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Telegram Channels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Unmoderated mega-channels broadcast narrative to initial 50k subscribers.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37560" cy="228600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STAGE 3: DARK SOCIAL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WhatsApp Forward Loops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Encrypted peer-to-peer forwarding with 'Forwarded many times' velocity.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37560" cy="228600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STAGE 4: VIRALITY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Instagram Reels &amp; TikTok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Algorithmic amplification using AI dubbing and sensational short video.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337560" cy="228600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STAGE 5: ASTROTURF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X / Twitter Bot Swarms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Coordinated hashtag hijacking forcing topic into national trending charts.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37560" cy="228600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STAGE 6: DEBUNK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Reddit &amp; Mainstream Press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Public discourse peak followed by official PIB/defence fact-check rebuttal.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⚓  NATIONAL SECURITY OSINT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Indian Defence &amp; Maritime Intelligence Connector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Strategic Monitoring Scope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Aggregates intelligence across 8 official defence sources.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Monitors major joint exercises: Milan, Malabar, Varuna, and coastal drills.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Tracks carrier battle group deployments (INS Vikrant &amp; INS Vikramaditya).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Automated alerts for synthetic naval casualty and submarine deepfakes.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 Cross-verification with official naval press communiques.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50815" cy="4846320"/>
          </a:xfrm>
          <a:prstGeom prst="roundRect">
            <a:avLst/>
          </a:prstGeom>
          <a:solidFill>
            <a:srgbClr val="101C38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46936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Integrated Official Registries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🏛️ Press Information Bureau (PIB)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Official Government of India media &amp; defence press releases.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⚓ Indian Navy Official Portal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Direct sync with indiannavy.nic.in operational notices.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🪖 ADG PI - Indian Army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Official public information wing countering border rumors.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Ministry of Defence (MoD)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└─ Policy communiques, bilateral drills, and procurement notices.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⚙️  SYSTEM IMPLEMENTATION &amp; SPECS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 &amp; Production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BACKEND ENGINE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FastAPI &amp; Python 3.11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Asynchronous ASGI request processing with Uvicorn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Pydantic v2 strict schema validation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Zero-latency background task dispatch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RESTful endpoints with complete OpenAPI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091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PERSISTENCE LAYER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SQLite with WAL Mode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Write-Ahead Logging (WAL) for high concurrency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Microsecond query speeds with zero maintenance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Self-contained zero-dependency deployment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Clean upgrade path to PostgreSQL / TimescaleDB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7091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ANALYST CONSOLE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Modern Vanilla ES6+ &amp; WebGL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Three.js 3D WebGL hardware-accelerated globe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vis.js dynamic force-directed network physics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Chart.js interactive threat telemetry graphs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Zero-bundle-bloat Vanilla CSS Glassmorphism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023360"/>
            <a:ext cx="5166360" cy="233172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70916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ENTERPRISE ROADMAP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Production Scaling Plan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Redis / Celery task queues for 50k+ posts/sec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SBERT embeddings clustered via GPU DBSCAN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Triton Inference Server for fine-tuned RoBERTa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Docker &amp; Kubernetes multi-region orchestration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🎬  LIVE DEMO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Live Demonstration Walkthrough &amp;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731520" cy="457200"/>
          </a:xfrm>
          <a:prstGeom prst="roundRect">
            <a:avLst/>
          </a:prstGeom>
          <a:solidFill>
            <a:srgbClr val="0C1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30s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7276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Step 1: Dashboard &amp; KPIs</a:t>
            </a:r>
          </a:p>
          <a:p>
            <a:pPr>
              <a:spcBef>
                <a:spcPts val="2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Show top live threat level, UTC/IST clocks, 2,180 tracked accounts, and 8 active platform hubs.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731520" cy="457200"/>
          </a:xfrm>
          <a:prstGeom prst="roundRect">
            <a:avLst/>
          </a:prstGeom>
          <a:solidFill>
            <a:srgbClr val="0C193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60s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3288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Step 2: 3D Threat Mesh</a:t>
            </a:r>
          </a:p>
          <a:p>
            <a:pPr>
              <a:spcBef>
                <a:spcPts val="2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Pivot camera to India Defence Sectors (Kochi Base, ISRO), inspect Node Dossier &amp; click PIB verification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731520" cy="457200"/>
          </a:xfrm>
          <a:prstGeom prst="roundRect">
            <a:avLst/>
          </a:prstGeom>
          <a:solidFill>
            <a:srgbClr val="0C19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90s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9300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Step 3: AI Text Analyzer</a:t>
            </a:r>
          </a:p>
          <a:p>
            <a:pPr>
              <a:spcBef>
                <a:spcPts val="2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Run fake SBI phishing SMS (98.4% Critical) vs. accredited news dispatch (10% Safe) to show explainability.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526280"/>
            <a:ext cx="731520" cy="457200"/>
          </a:xfrm>
          <a:prstGeom prst="roundRect">
            <a:avLst/>
          </a:prstGeom>
          <a:solidFill>
            <a:srgbClr val="0C19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60s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5312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Step 4: Cascade Simulator</a:t>
            </a:r>
          </a:p>
          <a:p>
            <a:pPr>
              <a:spcBef>
                <a:spcPts val="2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Run 3D temporal simulation through 6 lifecycle hops showing latency (14.2s) and 97.8% amplification.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731520" cy="457200"/>
          </a:xfrm>
          <a:prstGeom prst="roundRect">
            <a:avLst/>
          </a:prstGeom>
          <a:solidFill>
            <a:srgbClr val="0C193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60s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1324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Step 5: Live Feeds</a:t>
            </a:r>
          </a:p>
          <a:p>
            <a:pPr>
              <a:spcBef>
                <a:spcPts val="2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Filter Live News by category and Defence Intel by Indian Navy / Army to demonstrate real-time auditability.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🏆  WINNING INTERVIEW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Interviewer Q&amp;A Anticipation &amp; Technical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78992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Q: "Why rule-based heuristics over pure LLM?"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"Latency (&lt;5ms vs 2000ms), zero hallucination risk, and 100% auditable indicators. The API is designed with standard transformer signatures, making it a 2-line drop-in upgrade for fine-tuned RoBERTa."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1078992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Q: "How do you handle encrypted WhatsApp messages?"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"We don't break encryption. We analyze tipline telemetry and export metadata submitted to verified fact-checking desks (e.g. PIB WhatsApp desk), tracking velocity without violating privacy."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78992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Q: "How are campaigns clustered across platforms?"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"By normalizing post schemas, extracting semantic n-grams, and calculating CIB velocity when multiple accounts post the same narrative signature within tight temporal co-action windows."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728655" cy="1078992"/>
          </a:xfrm>
          <a:prstGeom prst="roundRect">
            <a:avLst/>
          </a:prstGeom>
          <a:solidFill>
            <a:srgbClr val="101C3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Q: "What is your production scalability plan?"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"Distributed Kafka/Celery message queues for 50,000+ posts/sec, TimescaleDB for longitudinal time-series analysis, and Triton Inference Server on GPU clusters."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